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 as-is (base)</c:v>
                </c:pt>
              </c:strCache>
            </c:strRef>
          </c:tx>
          <c:spPr>
            <a:solidFill>
              <a:srgbClr val="5A4636"/>
            </a:solidFill>
            <a:ln w="38100" cap="flat">
              <a:solidFill>
                <a:srgbClr val="5A4636"/>
              </a:solidFill>
              <a:prstDash val="solid,solid,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5A4636"/>
              </a:solidFill>
              <a:ln w="9525" cap="flat">
                <a:solidFill>
                  <a:srgbClr val="5A463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M0</c:v>
                  </c:pt>
                  <c:pt idx="1">
                    <c:v>M1</c:v>
                  </c:pt>
                  <c:pt idx="2">
                    <c:v>M2</c:v>
                  </c:pt>
                  <c:pt idx="3">
                    <c:v>M3</c:v>
                  </c:pt>
                  <c:pt idx="4">
                    <c:v>M4</c:v>
                  </c:pt>
                  <c:pt idx="5">
                    <c:v>M5</c:v>
                  </c:pt>
                  <c:pt idx="6">
                    <c:v>M6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</c:v>
                </c:pt>
                <c:pt idx="1">
                  <c:v>5</c:v>
                </c:pt>
                <c:pt idx="2">
                  <c:v>6</c:v>
                </c:pt>
                <c:pt idx="3">
                  <c:v>7</c:v>
                </c:pt>
                <c:pt idx="4">
                  <c:v>8</c:v>
                </c:pt>
                <c:pt idx="5">
                  <c:v>9</c:v>
                </c:pt>
                <c:pt idx="6">
                  <c:v>10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−20% revenue + ₹1.5L shock</c:v>
                </c:pt>
              </c:strCache>
            </c:strRef>
          </c:tx>
          <c:spPr>
            <a:solidFill>
              <a:srgbClr val="E06C1D"/>
            </a:solidFill>
            <a:ln w="38100" cap="flat">
              <a:solidFill>
                <a:srgbClr val="E06C1D"/>
              </a:solidFill>
              <a:prstDash val="solid,solid,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E06C1D"/>
              </a:solidFill>
              <a:ln w="9525" cap="flat">
                <a:solidFill>
                  <a:srgbClr val="E06C1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M0</c:v>
                  </c:pt>
                  <c:pt idx="1">
                    <c:v>M1</c:v>
                  </c:pt>
                  <c:pt idx="2">
                    <c:v>M2</c:v>
                  </c:pt>
                  <c:pt idx="3">
                    <c:v>M3</c:v>
                  </c:pt>
                  <c:pt idx="4">
                    <c:v>M4</c:v>
                  </c:pt>
                  <c:pt idx="5">
                    <c:v>M5</c:v>
                  </c:pt>
                  <c:pt idx="6">
                    <c:v>M6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2.5</c:v>
                </c:pt>
                <c:pt idx="4">
                  <c:v>2.5</c:v>
                </c:pt>
                <c:pt idx="5">
                  <c:v>2.5</c:v>
                </c:pt>
                <c:pt idx="6">
                  <c:v>2.5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Min. reserve ₹3L</c:v>
                </c:pt>
              </c:strCache>
            </c:strRef>
          </c:tx>
          <c:spPr>
            <a:solidFill>
              <a:srgbClr val="B3261E"/>
            </a:solidFill>
            <a:ln w="38100" cap="flat">
              <a:solidFill>
                <a:srgbClr val="B3261E"/>
              </a:solidFill>
              <a:prstDash val="solid,solid,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B3261E"/>
              </a:solidFill>
              <a:ln w="9525" cap="flat">
                <a:solidFill>
                  <a:srgbClr val="B3261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M0</c:v>
                  </c:pt>
                  <c:pt idx="1">
                    <c:v>M1</c:v>
                  </c:pt>
                  <c:pt idx="2">
                    <c:v>M2</c:v>
                  </c:pt>
                  <c:pt idx="3">
                    <c:v>M3</c:v>
                  </c:pt>
                  <c:pt idx="4">
                    <c:v>M4</c:v>
                  </c:pt>
                  <c:pt idx="5">
                    <c:v>M5</c:v>
                  </c:pt>
                  <c:pt idx="6">
                    <c:v>M6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  <c:pt idx="5">
                  <c:v>3</c:v>
                </c:pt>
                <c:pt idx="6">
                  <c:v>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3A3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"/>
          <c:min val="0"/>
        </c:scaling>
        <c:delete val="0"/>
        <c:axPos val="l"/>
        <c:majorGridlines>
          <c:spPr>
            <a:ln w="9525" cap="flat">
              <a:solidFill>
                <a:srgbClr val="EBDCC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4A3A3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4A3A30"/>
                    </a:solidFill>
                    <a:latin typeface="Arial"/>
                  </a:rPr>
                  <a:t>Cash (₹ lakh)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3A3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3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A3A30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image" Target="../media/CONTENT-image-3.jpe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image" Target="../media/image-1003-3.jpg"/><Relationship Id="rId4" Type="http://schemas.openxmlformats.org/officeDocument/2006/relationships/image" Target="../media/image-1003-4.jpg"/><Relationship Id="rId5" Type="http://schemas.openxmlformats.org/officeDocument/2006/relationships/image" Target="../media/DARK-image-5.jpeg"/><Relationship Id="rId6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warrior_fa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2743200"/>
            <a:ext cx="5696712" cy="4114800"/>
          </a:xfrm>
          <a:prstGeom prst="rect">
            <a:avLst/>
          </a:prstGeom>
        </p:spPr>
      </p:pic>
      <p:pic>
        <p:nvPicPr>
          <p:cNvPr id="3" name="Image 1" descr="/home/claude/work/yudh_logo_alph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137160"/>
            <a:ext cx="1005840" cy="70408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64008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YUDH HACKATHON  ·  DEPARTMENT OF COMPUTER SCIENCE &amp; ENGINEERING  ·  CHANDIGARH UNIVERSITY</a:t>
            </a:r>
            <a:endParaRPr lang="en-US" sz="9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548640" y="685800"/>
            <a:ext cx="987552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1F16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3A3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warri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22392" y="1920240"/>
            <a:ext cx="6766560" cy="4901184"/>
          </a:xfrm>
          <a:prstGeom prst="rect">
            <a:avLst/>
          </a:prstGeom>
        </p:spPr>
      </p:pic>
      <p:pic>
        <p:nvPicPr>
          <p:cNvPr id="3" name="Image 1" descr="/home/claude/work/car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02920"/>
            <a:ext cx="4160520" cy="1280160"/>
          </a:xfrm>
          <a:prstGeom prst="rect">
            <a:avLst/>
          </a:prstGeom>
        </p:spPr>
      </p:pic>
      <p:pic>
        <p:nvPicPr>
          <p:cNvPr id="4" name="Image 2" descr="/home/claude/work/cu_logo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777240"/>
            <a:ext cx="1783080" cy="630936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2880360" y="685800"/>
            <a:ext cx="0" cy="914400"/>
          </a:xfrm>
          <a:prstGeom prst="line">
            <a:avLst/>
          </a:prstGeom>
          <a:noFill/>
          <a:ln w="12700">
            <a:solidFill>
              <a:srgbClr val="D9D0C8"/>
            </a:solidFill>
            <a:prstDash val="solid"/>
          </a:ln>
        </p:spPr>
      </p:sp>
      <p:pic>
        <p:nvPicPr>
          <p:cNvPr id="6" name="Image 3" descr="/home/claude/work/yudh_white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0" y="621792"/>
            <a:ext cx="1444752" cy="1014984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3A3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031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E06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R O J E C T  N A M 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33172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BD5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FinTwin AI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2461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E06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TAGLINE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493008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BD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Digital Twin with Automatic Alternative Plan Generation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2519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E06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4988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BD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Yoddhas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50292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E06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527608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BD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 · AI-Driven Financial Decision Support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5897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E06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ORGANISED BY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12648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&amp; Engineering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E8B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Chandigarh University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06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TEAM INTRODUCTION &amp; CONTRIBUTIONS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8580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F16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Introduction &amp; Contributions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3749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BDCCF"/>
            </a:solidFill>
            <a:prstDash val="solid"/>
          </a:ln>
          <a:effectLst>
            <a:outerShdw sx="100000" sy="100000" kx="0" ky="0" algn="bl" rotWithShape="0" blurRad="101600" dist="25400" dir="5400000">
              <a:srgbClr val="7A4A2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874520"/>
            <a:ext cx="457200" cy="457200"/>
          </a:xfrm>
          <a:prstGeom prst="ellipse">
            <a:avLst/>
          </a:prstGeom>
          <a:solidFill>
            <a:srgbClr val="E06C1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4231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6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Ishika Kapoor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7432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16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Modeling Lead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6118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Finance · Testing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402336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◆"/>
            </a:pPr>
            <a:r>
              <a:rPr lang="en-US" sz="14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 equations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◆"/>
            </a:pPr>
            <a:r>
              <a:rPr lang="en-US" sz="14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Receivable-timing logic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◆"/>
            </a:pPr>
            <a:r>
              <a:rPr lang="en-US" sz="14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detection, test data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364992" y="1691640"/>
            <a:ext cx="2606040" cy="3749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BDCCF"/>
            </a:solidFill>
            <a:prstDash val="solid"/>
          </a:ln>
          <a:effectLst>
            <a:outerShdw sx="100000" sy="100000" kx="0" ky="0" algn="bl" rotWithShape="0" blurRad="101600" dist="25400" dir="5400000">
              <a:srgbClr val="7A4A2A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47872" y="1874520"/>
            <a:ext cx="457200" cy="457200"/>
          </a:xfrm>
          <a:prstGeom prst="ellipse">
            <a:avLst/>
          </a:prstGeom>
          <a:solidFill>
            <a:srgbClr val="E06C1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547872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547872" y="24231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6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Shaurya Saxena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547872" y="27432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16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Optimization &amp; Simulation Engineer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3547872" y="36118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SciPy · OR-Tools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547872" y="402336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◆"/>
            </a:pPr>
            <a:r>
              <a:rPr lang="en-US" sz="14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generator &amp; filters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◆"/>
            </a:pPr>
            <a:r>
              <a:rPr lang="en-US" sz="14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optimizer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◆"/>
            </a:pPr>
            <a:r>
              <a:rPr lang="en-US" sz="14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engine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181344" y="1691640"/>
            <a:ext cx="2606040" cy="3749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BDCCF"/>
            </a:solidFill>
            <a:prstDash val="solid"/>
          </a:ln>
          <a:effectLst>
            <a:outerShdw sx="100000" sy="100000" kx="0" ky="0" algn="bl" rotWithShape="0" blurRad="101600" dist="25400" dir="5400000">
              <a:srgbClr val="7A4A2A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64224" y="1874520"/>
            <a:ext cx="457200" cy="457200"/>
          </a:xfrm>
          <a:prstGeom prst="ellipse">
            <a:avLst/>
          </a:prstGeom>
          <a:solidFill>
            <a:srgbClr val="E06C1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364224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364224" y="24231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6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Mimansa Kapoor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364224" y="27432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16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&amp; Visualization Developer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6364224" y="36118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· Plotly · UX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364224" y="402336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◆"/>
            </a:pPr>
            <a:r>
              <a:rPr lang="en-US" sz="14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screens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◆"/>
            </a:pPr>
            <a:r>
              <a:rPr lang="en-US" sz="14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Lab charts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◆"/>
            </a:pPr>
            <a:r>
              <a:rPr lang="en-US" sz="14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what-if controls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997696" y="1691640"/>
            <a:ext cx="2606040" cy="3749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BDCCF"/>
            </a:solidFill>
            <a:prstDash val="solid"/>
          </a:ln>
          <a:effectLst>
            <a:outerShdw sx="100000" sy="100000" kx="0" ky="0" algn="bl" rotWithShape="0" blurRad="101600" dist="25400" dir="5400000">
              <a:srgbClr val="7A4A2A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180576" y="1874520"/>
            <a:ext cx="457200" cy="457200"/>
          </a:xfrm>
          <a:prstGeom prst="ellipse">
            <a:avLst/>
          </a:prstGeom>
          <a:solidFill>
            <a:srgbClr val="E06C1D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180576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9180576" y="24231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6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Kunal Choudhary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9180576" y="27432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16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&amp; Demo Lead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9180576" y="36118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tool-calling · Pitch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9180576" y="402336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◆"/>
            </a:pPr>
            <a:r>
              <a:rPr lang="en-US" sz="14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copilot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◆"/>
            </a:pPr>
            <a:r>
              <a:rPr lang="en-US" sz="14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script &amp; fallback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◆"/>
            </a:pPr>
            <a:r>
              <a:rPr lang="en-US" sz="14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Documentation, slides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48640" y="5623560"/>
            <a:ext cx="11064240" cy="548640"/>
          </a:xfrm>
          <a:prstGeom prst="roundRect">
            <a:avLst>
              <a:gd name="adj" fmla="val 13333"/>
            </a:avLst>
          </a:prstGeom>
          <a:solidFill>
            <a:srgbClr val="3A1F0E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77240" y="562356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B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 of responsibilities: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first (Modeling + Optimization), UI and copilot in parallel, demo polish together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3A3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06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PROBLEM STATEMENT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8580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F16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BDCCF"/>
            </a:solidFill>
            <a:prstDash val="solid"/>
          </a:ln>
          <a:effectLst>
            <a:outerShdw sx="100000" sy="100000" kx="0" ky="0" algn="bl" rotWithShape="0" blurRad="101600" dist="25400" dir="5400000">
              <a:srgbClr val="7A4A2A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828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6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Definition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9456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we predict the consequences of a financial decision, detect when and why it fails, and automatically generate ranked alternative plans that preserve the user’s goal?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474720"/>
            <a:ext cx="265176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BDCCF"/>
            </a:solidFill>
            <a:prstDash val="solid"/>
          </a:ln>
          <a:effectLst>
            <a:outerShdw sx="100000" sy="100000" kx="0" ky="0" algn="bl" rotWithShape="0" blurRad="101600" dist="25400" dir="5400000">
              <a:srgbClr val="7A4A2A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31520" y="3611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6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Audience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023360"/>
            <a:ext cx="22860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◆"/>
            </a:pPr>
            <a:r>
              <a:rPr lang="en-US" sz="17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businesses (primary)</a:t>
            </a:r>
            <a:endParaRPr lang="en-US" sz="1700" dirty="0"/>
          </a:p>
          <a:p>
            <a:pPr marL="203200" indent="-203200">
              <a:spcAft>
                <a:spcPts val="1200"/>
              </a:spcAft>
              <a:buSzPct val="100000"/>
              <a:buChar char="◆"/>
            </a:pPr>
            <a:r>
              <a:rPr lang="en-US" sz="17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Households (secondary)</a:t>
            </a:r>
            <a:endParaRPr lang="en-US" sz="1700" dirty="0"/>
          </a:p>
          <a:p>
            <a:pPr marL="203200" indent="-203200">
              <a:spcAft>
                <a:spcPts val="1200"/>
              </a:spcAft>
              <a:buSzPct val="100000"/>
              <a:buChar char="◆"/>
            </a:pPr>
            <a:r>
              <a:rPr lang="en-US" sz="17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Founders, finance leads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3383280" y="3474720"/>
            <a:ext cx="265176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BDCCF"/>
            </a:solidFill>
            <a:prstDash val="solid"/>
          </a:ln>
          <a:effectLst>
            <a:outerShdw sx="100000" sy="100000" kx="0" ky="0" algn="bl" rotWithShape="0" blurRad="101600" dist="25400" dir="5400000">
              <a:srgbClr val="7A4A2A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566160" y="3611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6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4023360"/>
            <a:ext cx="22860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◆"/>
            </a:pPr>
            <a:r>
              <a:rPr lang="en-US" sz="17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liquidity buffers</a:t>
            </a:r>
            <a:endParaRPr lang="en-US" sz="1700" dirty="0"/>
          </a:p>
          <a:p>
            <a:pPr marL="203200" indent="-203200">
              <a:spcAft>
                <a:spcPts val="1200"/>
              </a:spcAft>
              <a:buSzPct val="100000"/>
              <a:buChar char="◆"/>
            </a:pPr>
            <a:r>
              <a:rPr lang="en-US" sz="17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≠ cash on hand</a:t>
            </a:r>
            <a:endParaRPr lang="en-US" sz="1700" dirty="0"/>
          </a:p>
          <a:p>
            <a:pPr marL="203200" indent="-203200">
              <a:spcAft>
                <a:spcPts val="1200"/>
              </a:spcAft>
              <a:buSzPct val="100000"/>
              <a:buChar char="◆"/>
            </a:pPr>
            <a:r>
              <a:rPr lang="en-US" sz="17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payments hide risk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263640" y="1691640"/>
            <a:ext cx="534924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EBDCCF"/>
            </a:solidFill>
            <a:prstDash val="solid"/>
          </a:ln>
          <a:effectLst>
            <a:outerShdw sx="100000" sy="100000" kx="0" ky="0" algn="bl" rotWithShape="0" blurRad="101600" dist="25400" dir="5400000">
              <a:srgbClr val="7A4A2A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446520" y="182880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6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purchase that looks safe, then fails</a:t>
            </a:r>
            <a:endParaRPr lang="en-US" sz="16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6355080" y="2240280"/>
          <a:ext cx="516636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Text 13"/>
          <p:cNvSpPr txBox="1"/>
          <p:nvPr/>
        </p:nvSpPr>
        <p:spPr>
          <a:xfrm>
            <a:off x="6446520" y="553212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8A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₹8L cash, ₹4L equipment, ₹1L monthly surplus. Illustrative values from the worked example.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3A3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06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PROBLEM CONTEXT &amp; EXISTING SOLUTIONS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8580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F16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Context &amp; Existing Solutions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BDCCF"/>
            </a:solidFill>
            <a:prstDash val="solid"/>
          </a:ln>
          <a:effectLst>
            <a:outerShdw sx="100000" sy="100000" kx="0" ky="0" algn="bl" rotWithShape="0" blurRad="101600" dist="25400" dir="5400000">
              <a:srgbClr val="7A4A2A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82880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6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Background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40280"/>
            <a:ext cx="5074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◆"/>
            </a:pPr>
            <a:r>
              <a:rPr lang="en-US" sz="16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Cash-flow gaps drive small-business distress, even when profitable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172200" y="169164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BDCCF"/>
            </a:solidFill>
            <a:prstDash val="solid"/>
          </a:ln>
          <a:effectLst>
            <a:outerShdw sx="100000" sy="100000" kx="0" ky="0" algn="bl" rotWithShape="0" blurRad="101600" dist="25400" dir="5400000">
              <a:srgbClr val="7A4A2A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355080" y="182880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6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355080" y="2240280"/>
            <a:ext cx="5074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◆"/>
            </a:pPr>
            <a:r>
              <a:rPr lang="en-US" sz="16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budgeting tools, affordability checks and AI chatbots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91840"/>
          <a:ext cx="110642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840480"/>
                <a:gridCol w="41148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Solutions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EB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F0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they 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EB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F0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Identified Gap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EB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F0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6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 dashboards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EB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3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 past spending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EB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forward simulation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EB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6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 affordability checks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EB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3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 after purchase ≥ reserve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EB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Ignore timing and shocks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EB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6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 tools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EB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3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Warn on a breach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EB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recovery path offered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EB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6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Generic AI chatbots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EB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3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 in plain language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EB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invent financial figures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EB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3A3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06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PROPOSED SOLUTION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8580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F16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691640" cy="1051560"/>
          </a:xfrm>
          <a:prstGeom prst="roundRect">
            <a:avLst>
              <a:gd name="adj" fmla="val 6957"/>
            </a:avLst>
          </a:prstGeom>
          <a:solidFill>
            <a:srgbClr val="3A1F0E"/>
          </a:solidFill>
          <a:ln w="12700">
            <a:solidFill>
              <a:srgbClr val="3A1F0E"/>
            </a:solidFill>
            <a:prstDash val="solid"/>
          </a:ln>
          <a:effectLst>
            <a:outerShdw sx="100000" sy="100000" kx="0" ky="0" algn="bl" rotWithShape="0" blurRad="101600" dist="25400" dir="5400000">
              <a:srgbClr val="7A4A2A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737360"/>
            <a:ext cx="1508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B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constraint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423160" y="1691640"/>
            <a:ext cx="1691640" cy="1051560"/>
          </a:xfrm>
          <a:prstGeom prst="roundRect">
            <a:avLst>
              <a:gd name="adj" fmla="val 6957"/>
            </a:avLst>
          </a:prstGeom>
          <a:solidFill>
            <a:srgbClr val="FFF3E8"/>
          </a:solidFill>
          <a:ln w="12700">
            <a:solidFill>
              <a:srgbClr val="E06C1D"/>
            </a:solidFill>
            <a:prstDash val="solid"/>
          </a:ln>
          <a:effectLst>
            <a:outerShdw sx="100000" sy="100000" kx="0" ky="0" algn="bl" rotWithShape="0" blurRad="101600" dist="25400" dir="5400000">
              <a:srgbClr val="7A4A2A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2514600" y="1737360"/>
            <a:ext cx="1508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6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F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alternatives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297680" y="1691640"/>
            <a:ext cx="1691640" cy="1051560"/>
          </a:xfrm>
          <a:prstGeom prst="roundRect">
            <a:avLst>
              <a:gd name="adj" fmla="val 6957"/>
            </a:avLst>
          </a:prstGeom>
          <a:solidFill>
            <a:srgbClr val="3A1F0E"/>
          </a:solidFill>
          <a:ln w="12700">
            <a:solidFill>
              <a:srgbClr val="3A1F0E"/>
            </a:solidFill>
            <a:prstDash val="solid"/>
          </a:ln>
          <a:effectLst>
            <a:outerShdw sx="100000" sy="100000" kx="0" ky="0" algn="bl" rotWithShape="0" blurRad="101600" dist="25400" dir="5400000">
              <a:srgbClr val="7A4A2A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389120" y="1737360"/>
            <a:ext cx="1508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B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each plan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172200" y="1691640"/>
            <a:ext cx="1691640" cy="1051560"/>
          </a:xfrm>
          <a:prstGeom prst="roundRect">
            <a:avLst>
              <a:gd name="adj" fmla="val 6957"/>
            </a:avLst>
          </a:prstGeom>
          <a:solidFill>
            <a:srgbClr val="FFF3E8"/>
          </a:solidFill>
          <a:ln w="12700">
            <a:solidFill>
              <a:srgbClr val="E06C1D"/>
            </a:solidFill>
            <a:prstDash val="solid"/>
          </a:ln>
          <a:effectLst>
            <a:outerShdw sx="100000" sy="100000" kx="0" ky="0" algn="bl" rotWithShape="0" blurRad="101600" dist="25400" dir="5400000">
              <a:srgbClr val="7A4A2A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263640" y="1737360"/>
            <a:ext cx="1508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6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F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infeasible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046720" y="1691640"/>
            <a:ext cx="1691640" cy="1051560"/>
          </a:xfrm>
          <a:prstGeom prst="roundRect">
            <a:avLst>
              <a:gd name="adj" fmla="val 6957"/>
            </a:avLst>
          </a:prstGeom>
          <a:solidFill>
            <a:srgbClr val="3A1F0E"/>
          </a:solidFill>
          <a:ln w="12700">
            <a:solidFill>
              <a:srgbClr val="3A1F0E"/>
            </a:solidFill>
            <a:prstDash val="solid"/>
          </a:ln>
          <a:effectLst>
            <a:outerShdw sx="100000" sy="100000" kx="0" ky="0" algn="bl" rotWithShape="0" blurRad="101600" dist="25400" dir="5400000">
              <a:srgbClr val="7A4A2A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138160" y="1737360"/>
            <a:ext cx="1508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B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survivors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921240" y="1691640"/>
            <a:ext cx="1691640" cy="1051560"/>
          </a:xfrm>
          <a:prstGeom prst="roundRect">
            <a:avLst>
              <a:gd name="adj" fmla="val 6957"/>
            </a:avLst>
          </a:prstGeom>
          <a:solidFill>
            <a:srgbClr val="FFF3E8"/>
          </a:solidFill>
          <a:ln w="12700">
            <a:solidFill>
              <a:srgbClr val="E06C1D"/>
            </a:solidFill>
            <a:prstDash val="solid"/>
          </a:ln>
          <a:effectLst>
            <a:outerShdw sx="100000" sy="100000" kx="0" ky="0" algn="bl" rotWithShape="0" blurRad="101600" dist="25400" dir="5400000">
              <a:srgbClr val="7A4A2A">
                <a:alpha val="1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10012680" y="1737360"/>
            <a:ext cx="1508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6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F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best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48640" y="3017520"/>
            <a:ext cx="544068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EBDCCF"/>
            </a:solidFill>
            <a:prstDash val="solid"/>
          </a:ln>
          <a:effectLst>
            <a:outerShdw sx="100000" sy="100000" kx="0" ky="0" algn="bl" rotWithShape="0" blurRad="101600" dist="25400" dir="5400000">
              <a:srgbClr val="7A4A2A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31520" y="315468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6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Idea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3566160"/>
            <a:ext cx="50749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400"/>
              </a:spcAft>
              <a:buSzPct val="100000"/>
              <a:buChar char="◆"/>
            </a:pPr>
            <a:r>
              <a:rPr lang="en-US" sz="17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mathematical digital twin of the user’s finances</a:t>
            </a:r>
            <a:endParaRPr lang="en-US" sz="1700" dirty="0"/>
          </a:p>
          <a:p>
            <a:pPr marL="203200" indent="-203200">
              <a:spcAft>
                <a:spcPts val="1400"/>
              </a:spcAft>
              <a:buSzPct val="100000"/>
              <a:buChar char="◆"/>
            </a:pPr>
            <a:r>
              <a:rPr lang="en-US" sz="17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deterministic engine produces every number</a:t>
            </a:r>
            <a:endParaRPr lang="en-US" sz="1700" dirty="0"/>
          </a:p>
          <a:p>
            <a:pPr marL="203200" indent="-203200">
              <a:spcAft>
                <a:spcPts val="1400"/>
              </a:spcAft>
              <a:buSzPct val="100000"/>
              <a:buChar char="◆"/>
            </a:pPr>
            <a:r>
              <a:rPr lang="en-US" sz="17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plan fails, search a new route to the same goal</a:t>
            </a:r>
            <a:endParaRPr lang="en-US" sz="1700" dirty="0"/>
          </a:p>
          <a:p>
            <a:pPr marL="203200" indent="-203200">
              <a:spcAft>
                <a:spcPts val="1400"/>
              </a:spcAft>
              <a:buSzPct val="100000"/>
              <a:buChar char="◆"/>
            </a:pPr>
            <a:r>
              <a:rPr lang="en-US" sz="17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copilot only explains results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172200" y="3017520"/>
            <a:ext cx="544068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EBDCCF"/>
            </a:solidFill>
            <a:prstDash val="solid"/>
          </a:ln>
          <a:effectLst>
            <a:outerShdw sx="100000" sy="100000" kx="0" ky="0" algn="bl" rotWithShape="0" blurRad="101600" dist="25400" dir="5400000">
              <a:srgbClr val="7A4A2A">
                <a:alpha val="1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355080" y="315468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6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Addresses the Problem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355080" y="3566160"/>
            <a:ext cx="50749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400"/>
              </a:spcAft>
              <a:buSzPct val="100000"/>
              <a:buChar char="◆"/>
            </a:pPr>
            <a:r>
              <a:rPr lang="en-US" sz="17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cash per period, not a static balance</a:t>
            </a:r>
            <a:endParaRPr lang="en-US" sz="1700" dirty="0"/>
          </a:p>
          <a:p>
            <a:pPr marL="203200" indent="-203200">
              <a:spcAft>
                <a:spcPts val="1400"/>
              </a:spcAft>
              <a:buSzPct val="100000"/>
              <a:buChar char="◆"/>
            </a:pPr>
            <a:r>
              <a:rPr lang="en-US" sz="17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Pinpoints breach date, shortfall and root cause</a:t>
            </a:r>
            <a:endParaRPr lang="en-US" sz="1700" dirty="0"/>
          </a:p>
          <a:p>
            <a:pPr marL="203200" indent="-203200">
              <a:spcAft>
                <a:spcPts val="1400"/>
              </a:spcAft>
              <a:buSzPct val="100000"/>
              <a:buChar char="◆"/>
            </a:pPr>
            <a:r>
              <a:rPr lang="en-US" sz="17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warnings with feasible alternatives</a:t>
            </a:r>
            <a:endParaRPr lang="en-US" sz="1700" dirty="0"/>
          </a:p>
          <a:p>
            <a:pPr marL="203200" indent="-203200">
              <a:spcAft>
                <a:spcPts val="1400"/>
              </a:spcAft>
              <a:buSzPct val="100000"/>
              <a:buChar char="◆"/>
            </a:pPr>
            <a:r>
              <a:rPr lang="en-US" sz="17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by cost, delay, risk and goal achievement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3A3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06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KEY FEATURES &amp; INNOVATION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8580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F16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 &amp; Innovation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61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BDCCF"/>
            </a:solidFill>
            <a:prstDash val="solid"/>
          </a:ln>
          <a:effectLst>
            <a:outerShdw sx="100000" sy="100000" kx="0" ky="0" algn="bl" rotWithShape="0" blurRad="101600" dist="25400" dir="5400000">
              <a:srgbClr val="7A4A2A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828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6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Twin Forecast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4028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◆"/>
            </a:pPr>
            <a:r>
              <a:rPr lang="en-US" sz="16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cash with receivables shifted to pay dates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297680" y="1691640"/>
            <a:ext cx="35661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BDCCF"/>
            </a:solidFill>
            <a:prstDash val="solid"/>
          </a:ln>
          <a:effectLst>
            <a:outerShdw sx="100000" sy="100000" kx="0" ky="0" algn="bl" rotWithShape="0" blurRad="101600" dist="25400" dir="5400000">
              <a:srgbClr val="7A4A2A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480560" y="1828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6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Detection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480560" y="224028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◆"/>
            </a:pPr>
            <a:r>
              <a:rPr lang="en-US" sz="16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 date, shortfall, root cause, runway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046720" y="1691640"/>
            <a:ext cx="35661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BDCCF"/>
            </a:solidFill>
            <a:prstDash val="solid"/>
          </a:ln>
          <a:effectLst>
            <a:outerShdw sx="100000" sy="100000" kx="0" ky="0" algn="bl" rotWithShape="0" blurRad="101600" dist="25400" dir="5400000">
              <a:srgbClr val="7A4A2A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229600" y="1828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6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Alternative Plan Generator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0" y="224028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◆"/>
            </a:pPr>
            <a:r>
              <a:rPr lang="en-US" sz="16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Delay, phase, installments, cash-flow-first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3383280"/>
            <a:ext cx="35661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BDCCF"/>
            </a:solidFill>
            <a:prstDash val="solid"/>
          </a:ln>
          <a:effectLst>
            <a:outerShdw sx="100000" sy="100000" kx="0" ky="0" algn="bl" rotWithShape="0" blurRad="101600" dist="25400" dir="5400000">
              <a:srgbClr val="7A4A2A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31520" y="3520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6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Goal-Preserving Recovery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393192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◆"/>
            </a:pPr>
            <a:r>
              <a:rPr lang="en-US" sz="16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goal, new route, conditional steps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297680" y="3383280"/>
            <a:ext cx="35661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BDCCF"/>
            </a:solidFill>
            <a:prstDash val="solid"/>
          </a:ln>
          <a:effectLst>
            <a:outerShdw sx="100000" sy="100000" kx="0" ky="0" algn="bl" rotWithShape="0" blurRad="101600" dist="25400" dir="5400000">
              <a:srgbClr val="7A4A2A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4480560" y="3520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6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Monte Carlo Risk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480560" y="393192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◆"/>
            </a:pPr>
            <a:r>
              <a:rPr lang="en-US" sz="16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Reserve-breach probability per plan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046720" y="3383280"/>
            <a:ext cx="35661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BDCCF"/>
            </a:solidFill>
            <a:prstDash val="solid"/>
          </a:ln>
          <a:effectLst>
            <a:outerShdw sx="100000" sy="100000" kx="0" ky="0" algn="bl" rotWithShape="0" blurRad="101600" dist="25400" dir="5400000">
              <a:srgbClr val="7A4A2A">
                <a:alpha val="1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229600" y="3520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6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Grounded AI Copilot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0" y="393192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◆"/>
            </a:pPr>
            <a:r>
              <a:rPr lang="en-US" sz="16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engine output, never invents numbers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48640" y="512064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3A1F0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77240" y="512064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B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Innovation: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recovery, not just warnings  ·  confirmed vs. expected funds  ·  multiple ranked answers  ·  AI that explains, never invents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3A3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06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PROPOSED WORKFLOW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8580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F16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Workflow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BDCCF"/>
            </a:solidFill>
            <a:prstDash val="solid"/>
          </a:ln>
          <a:effectLst>
            <a:outerShdw sx="100000" sy="100000" kx="0" ky="0" algn="bl" rotWithShape="0" blurRad="101600" dist="25400" dir="5400000">
              <a:srgbClr val="7A4A2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856232"/>
            <a:ext cx="384048" cy="384048"/>
          </a:xfrm>
          <a:prstGeom prst="ellipse">
            <a:avLst/>
          </a:prstGeom>
          <a:solidFill>
            <a:srgbClr val="E06C1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56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828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financials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40487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Cash, revenue, debt, reserve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64992" y="16916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BDCCF"/>
            </a:solidFill>
            <a:prstDash val="solid"/>
          </a:ln>
          <a:effectLst>
            <a:outerShdw sx="100000" sy="100000" kx="0" ky="0" algn="bl" rotWithShape="0" blurRad="101600" dist="25400" dir="5400000">
              <a:srgbClr val="7A4A2A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47872" y="1856232"/>
            <a:ext cx="384048" cy="384048"/>
          </a:xfrm>
          <a:prstGeom prst="ellipse">
            <a:avLst/>
          </a:prstGeom>
          <a:solidFill>
            <a:srgbClr val="E06C1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47872" y="1856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050792" y="1828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twin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547872" y="240487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Receivables at actual pay dates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81344" y="16916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BDCCF"/>
            </a:solidFill>
            <a:prstDash val="solid"/>
          </a:ln>
          <a:effectLst>
            <a:outerShdw sx="100000" sy="100000" kx="0" ky="0" algn="bl" rotWithShape="0" blurRad="101600" dist="25400" dir="5400000">
              <a:srgbClr val="7A4A2A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64224" y="1856232"/>
            <a:ext cx="384048" cy="384048"/>
          </a:xfrm>
          <a:prstGeom prst="ellipse">
            <a:avLst/>
          </a:prstGeom>
          <a:solidFill>
            <a:srgbClr val="E06C1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364224" y="1856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867144" y="1828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decision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364224" y="240487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buy equipment, hire two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997696" y="16916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BDCCF"/>
            </a:solidFill>
            <a:prstDash val="solid"/>
          </a:ln>
          <a:effectLst>
            <a:outerShdw sx="100000" sy="100000" kx="0" ky="0" algn="bl" rotWithShape="0" blurRad="101600" dist="25400" dir="5400000">
              <a:srgbClr val="7A4A2A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80576" y="1856232"/>
            <a:ext cx="384048" cy="384048"/>
          </a:xfrm>
          <a:prstGeom prst="ellipse">
            <a:avLst/>
          </a:prstGeom>
          <a:solidFill>
            <a:srgbClr val="E06C1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80576" y="1856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683496" y="1828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original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180576" y="240487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plus adverse case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32918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BDCCF"/>
            </a:solidFill>
            <a:prstDash val="solid"/>
          </a:ln>
          <a:effectLst>
            <a:outerShdw sx="100000" sy="100000" kx="0" ky="0" algn="bl" rotWithShape="0" blurRad="101600" dist="25400" dir="5400000">
              <a:srgbClr val="7A4A2A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31520" y="3456432"/>
            <a:ext cx="384048" cy="384048"/>
          </a:xfrm>
          <a:prstGeom prst="ellipse">
            <a:avLst/>
          </a:prstGeom>
          <a:solidFill>
            <a:srgbClr val="E06C1D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31520" y="3456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234440" y="3429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alternatives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731520" y="400507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Delay, phase, negotiate, cut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3364992" y="32918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BDCCF"/>
            </a:solidFill>
            <a:prstDash val="solid"/>
          </a:ln>
          <a:effectLst>
            <a:outerShdw sx="100000" sy="100000" kx="0" ky="0" algn="bl" rotWithShape="0" blurRad="101600" dist="25400" dir="5400000">
              <a:srgbClr val="7A4A2A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547872" y="3456432"/>
            <a:ext cx="384048" cy="384048"/>
          </a:xfrm>
          <a:prstGeom prst="ellipse">
            <a:avLst/>
          </a:prstGeom>
          <a:solidFill>
            <a:srgbClr val="E06C1D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3547872" y="3456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4050792" y="3429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and rank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3547872" y="400507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Filter, then weighted score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181344" y="32918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BDCCF"/>
            </a:solidFill>
            <a:prstDash val="solid"/>
          </a:ln>
          <a:effectLst>
            <a:outerShdw sx="100000" sy="100000" kx="0" ky="0" algn="bl" rotWithShape="0" blurRad="101600" dist="25400" dir="5400000">
              <a:srgbClr val="7A4A2A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364224" y="3456432"/>
            <a:ext cx="384048" cy="384048"/>
          </a:xfrm>
          <a:prstGeom prst="ellipse">
            <a:avLst/>
          </a:prstGeom>
          <a:solidFill>
            <a:srgbClr val="E06C1D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364224" y="3456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6867144" y="3429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top plans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6364224" y="400507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 and reasons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8997696" y="32918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BDCCF"/>
            </a:solidFill>
            <a:prstDash val="solid"/>
          </a:ln>
          <a:effectLst>
            <a:outerShdw sx="100000" sy="100000" kx="0" ky="0" algn="bl" rotWithShape="0" blurRad="101600" dist="25400" dir="5400000">
              <a:srgbClr val="7A4A2A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9180576" y="3456432"/>
            <a:ext cx="384048" cy="384048"/>
          </a:xfrm>
          <a:prstGeom prst="ellipse">
            <a:avLst/>
          </a:prstGeom>
          <a:solidFill>
            <a:srgbClr val="E06C1D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9180576" y="3456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9683496" y="3429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live</a:t>
            </a:r>
            <a:endParaRPr lang="en-US" sz="1500" dirty="0"/>
          </a:p>
        </p:txBody>
      </p:sp>
      <p:sp>
        <p:nvSpPr>
          <p:cNvPr id="43" name="Text 41"/>
          <p:cNvSpPr txBox="1"/>
          <p:nvPr/>
        </p:nvSpPr>
        <p:spPr>
          <a:xfrm>
            <a:off x="9180576" y="400507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input, instant update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548640" y="4937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6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flow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548640" y="5303520"/>
            <a:ext cx="1216152" cy="777240"/>
          </a:xfrm>
          <a:prstGeom prst="roundRect">
            <a:avLst>
              <a:gd name="adj" fmla="val 9412"/>
            </a:avLst>
          </a:prstGeom>
          <a:solidFill>
            <a:srgbClr val="3A1F0E"/>
          </a:solidFill>
          <a:ln w="12700">
            <a:solidFill>
              <a:srgbClr val="3A1F0E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548640" y="5303520"/>
            <a:ext cx="1216152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1764792" y="5303520"/>
            <a:ext cx="182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6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1947672" y="5303520"/>
            <a:ext cx="1216152" cy="777240"/>
          </a:xfrm>
          <a:prstGeom prst="roundRect">
            <a:avLst>
              <a:gd name="adj" fmla="val 9412"/>
            </a:avLst>
          </a:prstGeom>
          <a:solidFill>
            <a:srgbClr val="FFF3E8"/>
          </a:solidFill>
          <a:ln w="12700">
            <a:solidFill>
              <a:srgbClr val="E06C1D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1947672" y="5303520"/>
            <a:ext cx="1216152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3163824" y="5303520"/>
            <a:ext cx="182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6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3346704" y="5303520"/>
            <a:ext cx="1216152" cy="777240"/>
          </a:xfrm>
          <a:prstGeom prst="roundRect">
            <a:avLst>
              <a:gd name="adj" fmla="val 9412"/>
            </a:avLst>
          </a:prstGeom>
          <a:solidFill>
            <a:srgbClr val="3A1F0E"/>
          </a:solidFill>
          <a:ln w="12700">
            <a:solidFill>
              <a:srgbClr val="3A1F0E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3346704" y="5303520"/>
            <a:ext cx="1216152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Check</a:t>
            </a:r>
            <a:endParaRPr lang="en-US" sz="1200" dirty="0"/>
          </a:p>
        </p:txBody>
      </p:sp>
      <p:sp>
        <p:nvSpPr>
          <p:cNvPr id="53" name="Text 51"/>
          <p:cNvSpPr txBox="1"/>
          <p:nvPr/>
        </p:nvSpPr>
        <p:spPr>
          <a:xfrm>
            <a:off x="4562856" y="5303520"/>
            <a:ext cx="182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6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54" name="Shape 52"/>
          <p:cNvSpPr/>
          <p:nvPr/>
        </p:nvSpPr>
        <p:spPr>
          <a:xfrm>
            <a:off x="4745736" y="5303520"/>
            <a:ext cx="1216152" cy="777240"/>
          </a:xfrm>
          <a:prstGeom prst="roundRect">
            <a:avLst>
              <a:gd name="adj" fmla="val 9412"/>
            </a:avLst>
          </a:prstGeom>
          <a:solidFill>
            <a:srgbClr val="FFF3E8"/>
          </a:solidFill>
          <a:ln w="12700">
            <a:solidFill>
              <a:srgbClr val="E06C1D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4745736" y="5303520"/>
            <a:ext cx="1216152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Generator</a:t>
            </a:r>
            <a:endParaRPr lang="en-US" sz="1200" dirty="0"/>
          </a:p>
        </p:txBody>
      </p:sp>
      <p:sp>
        <p:nvSpPr>
          <p:cNvPr id="56" name="Text 54"/>
          <p:cNvSpPr txBox="1"/>
          <p:nvPr/>
        </p:nvSpPr>
        <p:spPr>
          <a:xfrm>
            <a:off x="5961888" y="5303520"/>
            <a:ext cx="182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6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6144768" y="5303520"/>
            <a:ext cx="1216152" cy="777240"/>
          </a:xfrm>
          <a:prstGeom prst="roundRect">
            <a:avLst>
              <a:gd name="adj" fmla="val 9412"/>
            </a:avLst>
          </a:prstGeom>
          <a:solidFill>
            <a:srgbClr val="3A1F0E"/>
          </a:solidFill>
          <a:ln w="12700">
            <a:solidFill>
              <a:srgbClr val="3A1F0E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6144768" y="5303520"/>
            <a:ext cx="1216152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Simulator + MC</a:t>
            </a:r>
            <a:endParaRPr lang="en-US" sz="1200" dirty="0"/>
          </a:p>
        </p:txBody>
      </p:sp>
      <p:sp>
        <p:nvSpPr>
          <p:cNvPr id="59" name="Text 57"/>
          <p:cNvSpPr txBox="1"/>
          <p:nvPr/>
        </p:nvSpPr>
        <p:spPr>
          <a:xfrm>
            <a:off x="7360920" y="5303520"/>
            <a:ext cx="182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6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60" name="Shape 58"/>
          <p:cNvSpPr/>
          <p:nvPr/>
        </p:nvSpPr>
        <p:spPr>
          <a:xfrm>
            <a:off x="7543800" y="5303520"/>
            <a:ext cx="1216152" cy="777240"/>
          </a:xfrm>
          <a:prstGeom prst="roundRect">
            <a:avLst>
              <a:gd name="adj" fmla="val 9412"/>
            </a:avLst>
          </a:prstGeom>
          <a:solidFill>
            <a:srgbClr val="FFF3E8"/>
          </a:solidFill>
          <a:ln w="12700">
            <a:solidFill>
              <a:srgbClr val="E06C1D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7543800" y="5303520"/>
            <a:ext cx="1216152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1200" dirty="0"/>
          </a:p>
        </p:txBody>
      </p:sp>
      <p:sp>
        <p:nvSpPr>
          <p:cNvPr id="62" name="Text 60"/>
          <p:cNvSpPr txBox="1"/>
          <p:nvPr/>
        </p:nvSpPr>
        <p:spPr>
          <a:xfrm>
            <a:off x="8759952" y="5303520"/>
            <a:ext cx="182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6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63" name="Shape 61"/>
          <p:cNvSpPr/>
          <p:nvPr/>
        </p:nvSpPr>
        <p:spPr>
          <a:xfrm>
            <a:off x="8942832" y="5303520"/>
            <a:ext cx="1216152" cy="777240"/>
          </a:xfrm>
          <a:prstGeom prst="roundRect">
            <a:avLst>
              <a:gd name="adj" fmla="val 9412"/>
            </a:avLst>
          </a:prstGeom>
          <a:solidFill>
            <a:srgbClr val="3A1F0E"/>
          </a:solidFill>
          <a:ln w="12700">
            <a:solidFill>
              <a:srgbClr val="3A1F0E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8942832" y="5303520"/>
            <a:ext cx="1216152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65" name="Text 63"/>
          <p:cNvSpPr txBox="1"/>
          <p:nvPr/>
        </p:nvSpPr>
        <p:spPr>
          <a:xfrm>
            <a:off x="10158984" y="5303520"/>
            <a:ext cx="182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6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66" name="Shape 64"/>
          <p:cNvSpPr/>
          <p:nvPr/>
        </p:nvSpPr>
        <p:spPr>
          <a:xfrm>
            <a:off x="10341864" y="5303520"/>
            <a:ext cx="1216152" cy="777240"/>
          </a:xfrm>
          <a:prstGeom prst="roundRect">
            <a:avLst>
              <a:gd name="adj" fmla="val 9412"/>
            </a:avLst>
          </a:prstGeom>
          <a:solidFill>
            <a:srgbClr val="FFF3E8"/>
          </a:solidFill>
          <a:ln w="12700">
            <a:solidFill>
              <a:srgbClr val="E06C1D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10341864" y="5303520"/>
            <a:ext cx="1216152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Copilot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3A3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06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PROPOSED TECH STACK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8580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F16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Tech Stack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286000" cy="749808"/>
          </a:xfrm>
          <a:prstGeom prst="roundRect">
            <a:avLst>
              <a:gd name="adj" fmla="val 9756"/>
            </a:avLst>
          </a:prstGeom>
          <a:solidFill>
            <a:srgbClr val="3A1F0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017520" y="1783080"/>
            <a:ext cx="1280160" cy="566928"/>
          </a:xfrm>
          <a:prstGeom prst="roundRect">
            <a:avLst>
              <a:gd name="adj" fmla="val 48387"/>
            </a:avLst>
          </a:prstGeom>
          <a:solidFill>
            <a:srgbClr val="FFF3E8"/>
          </a:solidFill>
          <a:ln w="12700">
            <a:solidFill>
              <a:srgbClr val="E06C1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017520" y="178308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80560" y="1783080"/>
            <a:ext cx="1005840" cy="566928"/>
          </a:xfrm>
          <a:prstGeom prst="roundRect">
            <a:avLst>
              <a:gd name="adj" fmla="val 48387"/>
            </a:avLst>
          </a:prstGeom>
          <a:solidFill>
            <a:srgbClr val="FFF3E8"/>
          </a:solidFill>
          <a:ln w="12700">
            <a:solidFill>
              <a:srgbClr val="E06C1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80560" y="178308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0" y="1783080"/>
            <a:ext cx="1828800" cy="566928"/>
          </a:xfrm>
          <a:prstGeom prst="roundRect">
            <a:avLst>
              <a:gd name="adj" fmla="val 48387"/>
            </a:avLst>
          </a:prstGeom>
          <a:solidFill>
            <a:srgbClr val="FFF3E8"/>
          </a:solidFill>
          <a:ln w="12700">
            <a:solidFill>
              <a:srgbClr val="E06C1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669280" y="178308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Lab UI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578608"/>
            <a:ext cx="2286000" cy="749808"/>
          </a:xfrm>
          <a:prstGeom prst="roundRect">
            <a:avLst>
              <a:gd name="adj" fmla="val 9756"/>
            </a:avLst>
          </a:prstGeom>
          <a:solidFill>
            <a:srgbClr val="3A1F0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2578608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017520" y="2670048"/>
            <a:ext cx="1554480" cy="566928"/>
          </a:xfrm>
          <a:prstGeom prst="roundRect">
            <a:avLst>
              <a:gd name="adj" fmla="val 48387"/>
            </a:avLst>
          </a:prstGeom>
          <a:solidFill>
            <a:srgbClr val="FFF3E8"/>
          </a:solidFill>
          <a:ln w="12700">
            <a:solidFill>
              <a:srgbClr val="E06C1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017520" y="2670048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3.10+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54880" y="2670048"/>
            <a:ext cx="914400" cy="566928"/>
          </a:xfrm>
          <a:prstGeom prst="roundRect">
            <a:avLst>
              <a:gd name="adj" fmla="val 48387"/>
            </a:avLst>
          </a:prstGeom>
          <a:solidFill>
            <a:srgbClr val="FFF3E8"/>
          </a:solidFill>
          <a:ln w="12700">
            <a:solidFill>
              <a:srgbClr val="E06C1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754880" y="267004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852160" y="2670048"/>
            <a:ext cx="1005840" cy="566928"/>
          </a:xfrm>
          <a:prstGeom prst="roundRect">
            <a:avLst>
              <a:gd name="adj" fmla="val 48387"/>
            </a:avLst>
          </a:prstGeom>
          <a:solidFill>
            <a:srgbClr val="FFF3E8"/>
          </a:solidFill>
          <a:ln w="12700">
            <a:solidFill>
              <a:srgbClr val="E06C1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852160" y="267004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040880" y="2670048"/>
            <a:ext cx="2011680" cy="566928"/>
          </a:xfrm>
          <a:prstGeom prst="roundRect">
            <a:avLst>
              <a:gd name="adj" fmla="val 48387"/>
            </a:avLst>
          </a:prstGeom>
          <a:solidFill>
            <a:srgbClr val="FFF3E8"/>
          </a:solidFill>
          <a:ln w="12700">
            <a:solidFill>
              <a:srgbClr val="E06C1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040880" y="2670048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engine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3465576"/>
            <a:ext cx="2286000" cy="749808"/>
          </a:xfrm>
          <a:prstGeom prst="roundRect">
            <a:avLst>
              <a:gd name="adj" fmla="val 9756"/>
            </a:avLst>
          </a:prstGeom>
          <a:solidFill>
            <a:srgbClr val="3A1F0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48640" y="3465576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017520" y="3557016"/>
            <a:ext cx="1554480" cy="566928"/>
          </a:xfrm>
          <a:prstGeom prst="roundRect">
            <a:avLst>
              <a:gd name="adj" fmla="val 48387"/>
            </a:avLst>
          </a:prstGeom>
          <a:solidFill>
            <a:srgbClr val="FFF3E8"/>
          </a:solidFill>
          <a:ln w="12700">
            <a:solidFill>
              <a:srgbClr val="E06C1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017520" y="3557016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profile.json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754880" y="3557016"/>
            <a:ext cx="2103120" cy="566928"/>
          </a:xfrm>
          <a:prstGeom prst="roundRect">
            <a:avLst>
              <a:gd name="adj" fmla="val 48387"/>
            </a:avLst>
          </a:prstGeom>
          <a:solidFill>
            <a:srgbClr val="FFF3E8"/>
          </a:solidFill>
          <a:ln w="12700">
            <a:solidFill>
              <a:srgbClr val="E06C1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754880" y="3557016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simulation_log.csv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040880" y="3557016"/>
            <a:ext cx="1920240" cy="566928"/>
          </a:xfrm>
          <a:prstGeom prst="roundRect">
            <a:avLst>
              <a:gd name="adj" fmla="val 48387"/>
            </a:avLst>
          </a:prstGeom>
          <a:solidFill>
            <a:srgbClr val="FFF3E8"/>
          </a:solidFill>
          <a:ln w="12700">
            <a:solidFill>
              <a:srgbClr val="E06C1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040880" y="3557016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plan_results.csv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9144000" y="3557016"/>
            <a:ext cx="1371600" cy="566928"/>
          </a:xfrm>
          <a:prstGeom prst="roundRect">
            <a:avLst>
              <a:gd name="adj" fmla="val 48387"/>
            </a:avLst>
          </a:prstGeom>
          <a:solidFill>
            <a:srgbClr val="FFF3E8"/>
          </a:solidFill>
          <a:ln w="12700">
            <a:solidFill>
              <a:srgbClr val="E06C1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144000" y="3557016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only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48640" y="4352544"/>
            <a:ext cx="2286000" cy="749808"/>
          </a:xfrm>
          <a:prstGeom prst="roundRect">
            <a:avLst>
              <a:gd name="adj" fmla="val 9756"/>
            </a:avLst>
          </a:prstGeom>
          <a:solidFill>
            <a:srgbClr val="3A1F0E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548640" y="4352544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/ ML Tools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017520" y="4443984"/>
            <a:ext cx="1463040" cy="566928"/>
          </a:xfrm>
          <a:prstGeom prst="roundRect">
            <a:avLst>
              <a:gd name="adj" fmla="val 48387"/>
            </a:avLst>
          </a:prstGeom>
          <a:solidFill>
            <a:srgbClr val="FFF3E8"/>
          </a:solidFill>
          <a:ln w="12700">
            <a:solidFill>
              <a:srgbClr val="E06C1D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017520" y="4443984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4663440" y="4443984"/>
            <a:ext cx="914400" cy="566928"/>
          </a:xfrm>
          <a:prstGeom prst="roundRect">
            <a:avLst>
              <a:gd name="adj" fmla="val 48387"/>
            </a:avLst>
          </a:prstGeom>
          <a:solidFill>
            <a:srgbClr val="FFF3E8"/>
          </a:solidFill>
          <a:ln w="12700">
            <a:solidFill>
              <a:srgbClr val="E06C1D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663440" y="4443984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SciPy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5760720" y="4443984"/>
            <a:ext cx="1828800" cy="566928"/>
          </a:xfrm>
          <a:prstGeom prst="roundRect">
            <a:avLst>
              <a:gd name="adj" fmla="val 48387"/>
            </a:avLst>
          </a:prstGeom>
          <a:solidFill>
            <a:srgbClr val="FFF3E8"/>
          </a:solidFill>
          <a:ln w="12700">
            <a:solidFill>
              <a:srgbClr val="E06C1D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760720" y="4443984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OR-Tools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7772400" y="4443984"/>
            <a:ext cx="1463040" cy="566928"/>
          </a:xfrm>
          <a:prstGeom prst="roundRect">
            <a:avLst>
              <a:gd name="adj" fmla="val 48387"/>
            </a:avLst>
          </a:prstGeom>
          <a:solidFill>
            <a:srgbClr val="FFF3E8"/>
          </a:solidFill>
          <a:ln w="12700">
            <a:solidFill>
              <a:srgbClr val="E06C1D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772400" y="4443984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copilot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548640" y="5239512"/>
            <a:ext cx="2286000" cy="749808"/>
          </a:xfrm>
          <a:prstGeom prst="roundRect">
            <a:avLst>
              <a:gd name="adj" fmla="val 9756"/>
            </a:avLst>
          </a:prstGeom>
          <a:solidFill>
            <a:srgbClr val="3A1F0E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548640" y="5239512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APIs &amp; Frameworks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3017520" y="5330952"/>
            <a:ext cx="2103120" cy="566928"/>
          </a:xfrm>
          <a:prstGeom prst="roundRect">
            <a:avLst>
              <a:gd name="adj" fmla="val 48387"/>
            </a:avLst>
          </a:prstGeom>
          <a:solidFill>
            <a:srgbClr val="FFF3E8"/>
          </a:solidFill>
          <a:ln w="12700">
            <a:solidFill>
              <a:srgbClr val="E06C1D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3017520" y="5330952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API (optional)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5303520" y="5330952"/>
            <a:ext cx="1920240" cy="566928"/>
          </a:xfrm>
          <a:prstGeom prst="roundRect">
            <a:avLst>
              <a:gd name="adj" fmla="val 48387"/>
            </a:avLst>
          </a:prstGeom>
          <a:solidFill>
            <a:srgbClr val="FFF3E8"/>
          </a:solidFill>
          <a:ln w="12700">
            <a:solidFill>
              <a:srgbClr val="E06C1D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5303520" y="533095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tool schema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7406640" y="5330952"/>
            <a:ext cx="1005840" cy="566928"/>
          </a:xfrm>
          <a:prstGeom prst="roundRect">
            <a:avLst>
              <a:gd name="adj" fmla="val 48387"/>
            </a:avLst>
          </a:prstGeom>
          <a:solidFill>
            <a:srgbClr val="FFF3E8"/>
          </a:solidFill>
          <a:ln w="12700">
            <a:solidFill>
              <a:srgbClr val="E06C1D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7406640" y="5330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8595360" y="5330952"/>
            <a:ext cx="1554480" cy="566928"/>
          </a:xfrm>
          <a:prstGeom prst="roundRect">
            <a:avLst>
              <a:gd name="adj" fmla="val 48387"/>
            </a:avLst>
          </a:prstGeom>
          <a:solidFill>
            <a:srgbClr val="FFF3E8"/>
          </a:solidFill>
          <a:ln w="12700">
            <a:solidFill>
              <a:srgbClr val="E06C1D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8595360" y="5330952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/ GitHub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3A3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06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FEASIBILITY &amp; EXECUTION PLAN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8580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F16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 &amp; Execution Plan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6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approach:  </a:t>
            </a:r>
            <a:pPr indent="0" marL="0">
              <a:buNone/>
            </a:pPr>
            <a:r>
              <a:rPr lang="en-US" sz="15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engine first, UI second, copilot last. Phase 1 must run end-to-end before Phases 2 and 3.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2697480"/>
            <a:ext cx="10515600" cy="0"/>
          </a:xfrm>
          <a:prstGeom prst="line">
            <a:avLst/>
          </a:prstGeom>
          <a:noFill/>
          <a:ln w="25400">
            <a:solidFill>
              <a:srgbClr val="E06C1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2402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6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 h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170432" y="2560320"/>
            <a:ext cx="274320" cy="274320"/>
          </a:xfrm>
          <a:prstGeom prst="ellipse">
            <a:avLst/>
          </a:prstGeom>
          <a:solidFill>
            <a:srgbClr val="E06C1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92608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Scope, schema, repo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148840" y="22402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6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3–9 h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70632" y="2560320"/>
            <a:ext cx="274320" cy="274320"/>
          </a:xfrm>
          <a:prstGeom prst="ellipse">
            <a:avLst/>
          </a:prstGeom>
          <a:solidFill>
            <a:srgbClr val="E06C1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148840" y="292608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 and reserve checks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749040" y="22402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6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9–15 h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370832" y="2560320"/>
            <a:ext cx="274320" cy="274320"/>
          </a:xfrm>
          <a:prstGeom prst="ellipse">
            <a:avLst/>
          </a:prstGeom>
          <a:solidFill>
            <a:srgbClr val="E06C1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749040" y="292608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generator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349240" y="22402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6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15–20 h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71032" y="2560320"/>
            <a:ext cx="274320" cy="274320"/>
          </a:xfrm>
          <a:prstGeom prst="ellipse">
            <a:avLst/>
          </a:prstGeom>
          <a:solidFill>
            <a:srgbClr val="E06C1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349240" y="292608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 and dashboard MVP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949440" y="22402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6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20–24 h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571232" y="2560320"/>
            <a:ext cx="274320" cy="274320"/>
          </a:xfrm>
          <a:prstGeom prst="ellipse">
            <a:avLst/>
          </a:prstGeom>
          <a:solidFill>
            <a:srgbClr val="E06C1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949440" y="292608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and sensitivity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549640" y="22402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6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24–27 h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171432" y="2560320"/>
            <a:ext cx="274320" cy="274320"/>
          </a:xfrm>
          <a:prstGeom prst="ellipse">
            <a:avLst/>
          </a:prstGeom>
          <a:solidFill>
            <a:srgbClr val="E06C1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549640" y="292608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AI copilot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0149840" y="22402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6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27–30 h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0771632" y="2560320"/>
            <a:ext cx="274320" cy="274320"/>
          </a:xfrm>
          <a:prstGeom prst="ellipse">
            <a:avLst/>
          </a:prstGeom>
          <a:solidFill>
            <a:srgbClr val="E06C1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149840" y="292608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Testing, demo, submit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48640" y="3931920"/>
            <a:ext cx="54406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BDCCF"/>
            </a:solidFill>
            <a:prstDash val="solid"/>
          </a:ln>
          <a:effectLst>
            <a:outerShdw sx="100000" sy="100000" kx="0" ky="0" algn="bl" rotWithShape="0" blurRad="101600" dist="25400" dir="5400000">
              <a:srgbClr val="7A4A2A">
                <a:alpha val="18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731520" y="406908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6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Challenges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731520" y="4480560"/>
            <a:ext cx="5074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◆"/>
            </a:pPr>
            <a:r>
              <a:rPr lang="en-US" sz="16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scaling: normalise terms, expose weights</a:t>
            </a:r>
            <a:endParaRPr lang="en-US" sz="1600" dirty="0"/>
          </a:p>
          <a:p>
            <a:pPr marL="203200" indent="-203200">
              <a:spcAft>
                <a:spcPts val="1200"/>
              </a:spcAft>
              <a:buSzPct val="100000"/>
              <a:buChar char="◆"/>
            </a:pPr>
            <a:r>
              <a:rPr lang="en-US" sz="16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hallucination: copilot quotes engine output</a:t>
            </a:r>
            <a:endParaRPr lang="en-US" sz="1600" dirty="0"/>
          </a:p>
          <a:p>
            <a:pPr marL="203200" indent="-203200">
              <a:spcAft>
                <a:spcPts val="1200"/>
              </a:spcAft>
              <a:buSzPct val="100000"/>
              <a:buChar char="◆"/>
            </a:pPr>
            <a:r>
              <a:rPr lang="en-US" sz="16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30-hour limit: strict phase priority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172200" y="3931920"/>
            <a:ext cx="54406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BDCCF"/>
            </a:solidFill>
            <a:prstDash val="solid"/>
          </a:ln>
          <a:effectLst>
            <a:outerShdw sx="100000" sy="100000" kx="0" ky="0" algn="bl" rotWithShape="0" blurRad="101600" dist="25400" dir="5400000">
              <a:srgbClr val="7A4A2A">
                <a:alpha val="18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6355080" y="406908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6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Execution Strategy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6355080" y="4480560"/>
            <a:ext cx="5074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◆"/>
            </a:pPr>
            <a:r>
              <a:rPr lang="en-US" sz="16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roles work in parallel on the shared schema</a:t>
            </a:r>
            <a:endParaRPr lang="en-US" sz="1600" dirty="0"/>
          </a:p>
          <a:p>
            <a:pPr marL="203200" indent="-203200">
              <a:spcAft>
                <a:spcPts val="1200"/>
              </a:spcAft>
              <a:buSzPct val="100000"/>
              <a:buChar char="◆"/>
            </a:pPr>
            <a:r>
              <a:rPr lang="en-US" sz="16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Hand-calculated unit tests guard the engine</a:t>
            </a:r>
            <a:endParaRPr lang="en-US" sz="1600" dirty="0"/>
          </a:p>
          <a:p>
            <a:pPr marL="203200" indent="-203200">
              <a:spcAft>
                <a:spcPts val="1200"/>
              </a:spcAft>
              <a:buSzPct val="100000"/>
              <a:buChar char="◆"/>
            </a:pPr>
            <a:r>
              <a:rPr lang="en-US" sz="16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Pre-computed fallback assets for the demo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3A3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06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·  EXPECTED IMPACT &amp; FUTURE SCOPE · OPTIONAL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8580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F16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Impact &amp; Future Scope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BDCCF"/>
            </a:solidFill>
            <a:prstDash val="solid"/>
          </a:ln>
          <a:effectLst>
            <a:outerShdw sx="100000" sy="100000" kx="0" ky="0" algn="bl" rotWithShape="0" blurRad="101600" dist="25400" dir="5400000">
              <a:srgbClr val="7A4A2A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178308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06C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5146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Planted shortfalls detected (test target)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64992" y="169164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BDCCF"/>
            </a:solidFill>
            <a:prstDash val="solid"/>
          </a:ln>
          <a:effectLst>
            <a:outerShdw sx="100000" sy="100000" kx="0" ky="0" algn="bl" rotWithShape="0" blurRad="101600" dist="25400" dir="5400000">
              <a:srgbClr val="7A4A2A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502152" y="178308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06C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5 s</a:t>
            </a:r>
            <a:endParaRPr lang="en-US" sz="3800" dirty="0"/>
          </a:p>
        </p:txBody>
      </p:sp>
      <p:sp>
        <p:nvSpPr>
          <p:cNvPr id="9" name="Text 7"/>
          <p:cNvSpPr txBox="1"/>
          <p:nvPr/>
        </p:nvSpPr>
        <p:spPr>
          <a:xfrm>
            <a:off x="3502152" y="25146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Re-simulation after an input change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81344" y="169164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BDCCF"/>
            </a:solidFill>
            <a:prstDash val="solid"/>
          </a:ln>
          <a:effectLst>
            <a:outerShdw sx="100000" sy="100000" kx="0" ky="0" algn="bl" rotWithShape="0" blurRad="101600" dist="25400" dir="5400000">
              <a:srgbClr val="7A4A2A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318504" y="178308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06C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1,000</a:t>
            </a:r>
            <a:endParaRPr lang="en-US" sz="3800" dirty="0"/>
          </a:p>
        </p:txBody>
      </p:sp>
      <p:sp>
        <p:nvSpPr>
          <p:cNvPr id="12" name="Text 10"/>
          <p:cNvSpPr txBox="1"/>
          <p:nvPr/>
        </p:nvSpPr>
        <p:spPr>
          <a:xfrm>
            <a:off x="6318504" y="25146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runs per plan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97696" y="169164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BDCCF"/>
            </a:solidFill>
            <a:prstDash val="solid"/>
          </a:ln>
          <a:effectLst>
            <a:outerShdw sx="100000" sy="100000" kx="0" ky="0" algn="bl" rotWithShape="0" blurRad="101600" dist="25400" dir="5400000">
              <a:srgbClr val="7A4A2A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134856" y="178308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06C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3</a:t>
            </a:r>
            <a:endParaRPr lang="en-US" sz="3800" dirty="0"/>
          </a:p>
        </p:txBody>
      </p:sp>
      <p:sp>
        <p:nvSpPr>
          <p:cNvPr id="15" name="Text 13"/>
          <p:cNvSpPr txBox="1"/>
          <p:nvPr/>
        </p:nvSpPr>
        <p:spPr>
          <a:xfrm>
            <a:off x="9134856" y="25146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feasible alternatives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383280"/>
            <a:ext cx="356616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BDCCF"/>
            </a:solidFill>
            <a:prstDash val="solid"/>
          </a:ln>
          <a:effectLst>
            <a:outerShdw sx="100000" sy="100000" kx="0" ky="0" algn="bl" rotWithShape="0" blurRad="101600" dist="25400" dir="5400000">
              <a:srgbClr val="7A4A2A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31520" y="3520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6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Potential Benefits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3931920"/>
            <a:ext cx="3200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◆"/>
            </a:pPr>
            <a:r>
              <a:rPr lang="en-US" sz="17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Avoids costly cash crises</a:t>
            </a:r>
            <a:endParaRPr lang="en-US" sz="1700" dirty="0"/>
          </a:p>
          <a:p>
            <a:pPr marL="203200" indent="-203200">
              <a:spcAft>
                <a:spcPts val="1200"/>
              </a:spcAft>
              <a:buSzPct val="100000"/>
              <a:buChar char="◆"/>
            </a:pPr>
            <a:r>
              <a:rPr lang="en-US" sz="17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Faster, safer decisions</a:t>
            </a:r>
            <a:endParaRPr lang="en-US" sz="1700" dirty="0"/>
          </a:p>
          <a:p>
            <a:pPr marL="203200" indent="-203200">
              <a:spcAft>
                <a:spcPts val="1200"/>
              </a:spcAft>
              <a:buSzPct val="100000"/>
              <a:buChar char="◆"/>
            </a:pPr>
            <a:r>
              <a:rPr lang="en-US" sz="17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trade-offs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4297680" y="3383280"/>
            <a:ext cx="356616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BDCCF"/>
            </a:solidFill>
            <a:prstDash val="solid"/>
          </a:ln>
          <a:effectLst>
            <a:outerShdw sx="100000" sy="100000" kx="0" ky="0" algn="bl" rotWithShape="0" blurRad="101600" dist="25400" dir="5400000">
              <a:srgbClr val="7A4A2A">
                <a:alpha val="1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4480560" y="3520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6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Scalability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4480560" y="3931920"/>
            <a:ext cx="3200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◆"/>
            </a:pPr>
            <a:r>
              <a:rPr lang="en-US" sz="17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or daily granularity</a:t>
            </a:r>
            <a:endParaRPr lang="en-US" sz="1700" dirty="0"/>
          </a:p>
          <a:p>
            <a:pPr marL="203200" indent="-203200">
              <a:spcAft>
                <a:spcPts val="1200"/>
              </a:spcAft>
              <a:buSzPct val="100000"/>
              <a:buChar char="◆"/>
            </a:pPr>
            <a:r>
              <a:rPr lang="en-US" sz="17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and personal mode</a:t>
            </a:r>
            <a:endParaRPr lang="en-US" sz="1700" dirty="0"/>
          </a:p>
          <a:p>
            <a:pPr marL="203200" indent="-203200">
              <a:spcAft>
                <a:spcPts val="1200"/>
              </a:spcAft>
              <a:buSzPct val="100000"/>
              <a:buChar char="◆"/>
            </a:pPr>
            <a:r>
              <a:rPr lang="en-US" sz="17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and accounting feeds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8046720" y="3383280"/>
            <a:ext cx="356616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BDCCF"/>
            </a:solidFill>
            <a:prstDash val="solid"/>
          </a:ln>
          <a:effectLst>
            <a:outerShdw sx="100000" sy="100000" kx="0" ky="0" algn="bl" rotWithShape="0" blurRad="101600" dist="25400" dir="5400000">
              <a:srgbClr val="7A4A2A">
                <a:alpha val="18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8229600" y="3520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6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Possibilities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0" y="3931920"/>
            <a:ext cx="3200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◆"/>
            </a:pPr>
            <a:r>
              <a:rPr lang="en-US" sz="17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Mixed-integer, Pareto optimization</a:t>
            </a:r>
            <a:endParaRPr lang="en-US" sz="1700" dirty="0"/>
          </a:p>
          <a:p>
            <a:pPr marL="203200" indent="-203200">
              <a:spcAft>
                <a:spcPts val="1200"/>
              </a:spcAft>
              <a:buSzPct val="100000"/>
              <a:buChar char="◆"/>
            </a:pPr>
            <a:r>
              <a:rPr lang="en-US" sz="17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customer payment delays</a:t>
            </a:r>
            <a:endParaRPr lang="en-US" sz="1700" dirty="0"/>
          </a:p>
          <a:p>
            <a:pPr marL="203200" indent="-203200">
              <a:spcAft>
                <a:spcPts val="1200"/>
              </a:spcAft>
              <a:buSzPct val="100000"/>
              <a:buChar char="◆"/>
            </a:pPr>
            <a:r>
              <a:rPr lang="en-US" sz="17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and voice copilot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3A3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9319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8B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Yoddhas  ·  FinTwin AI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4348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BD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Prediction. Simulation. Optimization. Recovery.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6235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E06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ORGANISED BY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89788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&amp; Engineering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E8B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Chandigarh University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FinTwin AI – CODE Yudh</dc:title>
  <dc:subject>PptxGenJS Presentation</dc:subject>
  <dc:creator>Code Yoddhas</dc:creator>
  <cp:lastModifiedBy>Code Yoddhas</cp:lastModifiedBy>
  <cp:revision>1</cp:revision>
  <dcterms:created xsi:type="dcterms:W3CDTF">2026-10-15T07:54:43Z</dcterms:created>
  <dcterms:modified xsi:type="dcterms:W3CDTF">2026-10-15T07:54:43Z</dcterms:modified>
</cp:coreProperties>
</file>